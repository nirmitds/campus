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ink/ink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97" r:id="rId3"/>
    <p:sldId id="499" r:id="rId4"/>
    <p:sldId id="500" r:id="rId5"/>
    <p:sldId id="501" r:id="rId6"/>
    <p:sldId id="512" r:id="rId7"/>
    <p:sldId id="505" r:id="rId8"/>
    <p:sldId id="503" r:id="rId9"/>
    <p:sldId id="508" r:id="rId10"/>
    <p:sldId id="507" r:id="rId11"/>
    <p:sldId id="514" r:id="rId12"/>
    <p:sldId id="504" r:id="rId13"/>
    <p:sldId id="502" r:id="rId14"/>
    <p:sldId id="515" r:id="rId15"/>
    <p:sldId id="506" r:id="rId16"/>
    <p:sldId id="269" r:id="rId1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81"/>
  </p:normalViewPr>
  <p:slideViewPr>
    <p:cSldViewPr>
      <p:cViewPr varScale="1">
        <p:scale>
          <a:sx n="60" d="100"/>
          <a:sy n="60" d="100"/>
        </p:scale>
        <p:origin x="48" y="5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8BE64-18DF-6432-9928-5C8C80B3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D7E930-C5C8-6770-2862-90B5725C0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CCC19-EF11-7691-E577-0B7638FBC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92940-244D-F617-68D8-465A3A2AE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505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.png"/><Relationship Id="rId5" Type="http://schemas.openxmlformats.org/officeDocument/2006/relationships/customXml" Target="../ink/ink1.xml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2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 - </a:t>
            </a:r>
            <a:r>
              <a:rPr lang="en-IN" sz="2400" b="1" dirty="0">
                <a:solidFill>
                  <a:srgbClr val="FF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Transformers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670051"/>
              </p:ext>
            </p:extLst>
          </p:nvPr>
        </p:nvGraphicFramePr>
        <p:xfrm>
          <a:off x="1935521" y="3326954"/>
          <a:ext cx="556585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2925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2782925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2048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204874">
                <a:tc>
                  <a:txBody>
                    <a:bodyPr/>
                    <a:lstStyle/>
                    <a:p>
                      <a:r>
                        <a:rPr lang="en-US" dirty="0"/>
                        <a:t>2401410016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Bhanuri Dinesh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204874">
                <a:tc>
                  <a:txBody>
                    <a:bodyPr/>
                    <a:lstStyle/>
                    <a:p>
                      <a:r>
                        <a:rPr lang="en-US" dirty="0"/>
                        <a:t>2401410022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Nirmit Dudeja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204874">
                <a:tc>
                  <a:txBody>
                    <a:bodyPr/>
                    <a:lstStyle/>
                    <a:p>
                      <a:r>
                        <a:rPr lang="en-US" dirty="0"/>
                        <a:t>2401410032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Dhruv Aggarwal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070394"/>
                  </a:ext>
                </a:extLst>
              </a:tr>
              <a:tr h="204874">
                <a:tc>
                  <a:txBody>
                    <a:bodyPr/>
                    <a:lstStyle/>
                    <a:p>
                      <a:r>
                        <a:rPr lang="en-US" dirty="0"/>
                        <a:t>2401410002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Dhruv Kapil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917971"/>
                  </a:ext>
                </a:extLst>
              </a:tr>
              <a:tr h="204874">
                <a:tc>
                  <a:txBody>
                    <a:bodyPr/>
                    <a:lstStyle/>
                    <a:p>
                      <a:r>
                        <a:rPr lang="en-US" dirty="0"/>
                        <a:t>2401410045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Akshat Gangwal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128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414309" y="1331449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CampUs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Mr. Pratik Raj Verma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2A884-8301-0ACD-01A3-2D75FE441C49}"/>
              </a:ext>
            </a:extLst>
          </p:cNvPr>
          <p:cNvSpPr txBox="1"/>
          <p:nvPr/>
        </p:nvSpPr>
        <p:spPr>
          <a:xfrm>
            <a:off x="2238773" y="1873806"/>
            <a:ext cx="4659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dirty="0">
                <a:solidFill>
                  <a:srgbClr val="FF0000"/>
                </a:solidFill>
              </a:rPr>
              <a:t>Integrated University Support Platform</a:t>
            </a:r>
            <a:endParaRPr lang="en-IN" b="1" dirty="0">
              <a:solidFill>
                <a:srgbClr val="FF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7C2DE6-3D9C-56F6-D1E5-E6E4DB16F8B1}"/>
              </a:ext>
            </a:extLst>
          </p:cNvPr>
          <p:cNvSpPr txBox="1"/>
          <p:nvPr/>
        </p:nvSpPr>
        <p:spPr>
          <a:xfrm>
            <a:off x="1835696" y="1170195"/>
            <a:ext cx="7025686" cy="204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IN" sz="2000" b="1" dirty="0"/>
              <a:t>CampUs</a:t>
            </a:r>
            <a:r>
              <a:rPr lang="en-IN" b="1" dirty="0"/>
              <a:t>(</a:t>
            </a:r>
            <a:r>
              <a:rPr lang="en-IN" dirty="0"/>
              <a:t>The Super Smart University Service Exchange &amp; Management Platform with addition of Integrated Student Support &amp; Academic Service Platform</a:t>
            </a:r>
            <a:r>
              <a:rPr lang="en-IN" b="1" dirty="0"/>
              <a:t>) is a full-stack web application designed to provide a centralized digital ecosystem for university students, faculty, and administrators and also the outsiders.</a:t>
            </a:r>
            <a:endParaRPr lang="en-IN" dirty="0"/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5A906-21B9-0B55-059D-395C3ED1298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74" r="17977"/>
          <a:stretch>
            <a:fillRect/>
          </a:stretch>
        </p:blipFill>
        <p:spPr bwMode="auto">
          <a:xfrm>
            <a:off x="491467" y="1324124"/>
            <a:ext cx="1135380" cy="11823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313611-6669-761D-68B8-5DF2E9A994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006" y="3447244"/>
            <a:ext cx="3528392" cy="23493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2F051B-DB26-1711-610B-073F0C8C8E60}"/>
              </a:ext>
            </a:extLst>
          </p:cNvPr>
          <p:cNvSpPr txBox="1"/>
          <p:nvPr/>
        </p:nvSpPr>
        <p:spPr>
          <a:xfrm>
            <a:off x="282618" y="2769169"/>
            <a:ext cx="6161589" cy="346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IN" sz="1600" dirty="0">
                <a:effectLst/>
                <a:latin typeface="ADLaM Display" panose="0201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The platform combines:</a:t>
            </a:r>
            <a:endParaRPr lang="en-IN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effectLst/>
                <a:latin typeface="ADLaM Display" panose="0201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University services (requests, marks, communication)</a:t>
            </a:r>
            <a:endParaRPr lang="en-IN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effectLst/>
                <a:latin typeface="ADLaM Display" panose="0201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Student-to-student service &amp; item exchange</a:t>
            </a:r>
            <a:endParaRPr lang="en-IN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effectLst/>
                <a:latin typeface="ADLaM Display" panose="0201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Emergency assistance</a:t>
            </a:r>
            <a:endParaRPr lang="en-IN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effectLst/>
                <a:latin typeface="ADLaM Display" panose="0201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Coin-based incentive system</a:t>
            </a:r>
            <a:endParaRPr lang="en-IN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effectLst/>
                <a:latin typeface="ADLaM Display" panose="0201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Real-time notifications</a:t>
            </a:r>
            <a:endParaRPr lang="en-IN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effectLst/>
                <a:latin typeface="ADLaM Display" panose="0201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Analytics for monitoring system performance</a:t>
            </a:r>
            <a:endParaRPr lang="en-IN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effectLst/>
                <a:latin typeface="ADLaM Display" panose="0201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Nearby outsider support</a:t>
            </a:r>
            <a:endParaRPr lang="en-IN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6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dirty="0">
                <a:effectLst/>
                <a:latin typeface="ADLaM Display" panose="020100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Events , Workshops and more…</a:t>
            </a:r>
            <a:endParaRPr lang="en-IN" sz="14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AEED1-54C9-BC92-A1CA-398F1FDFDEFE}"/>
              </a:ext>
            </a:extLst>
          </p:cNvPr>
          <p:cNvSpPr txBox="1"/>
          <p:nvPr/>
        </p:nvSpPr>
        <p:spPr>
          <a:xfrm>
            <a:off x="4548902" y="5764391"/>
            <a:ext cx="4703618" cy="718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IN" sz="1200" i="1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Angsana New" panose="02020603050405020304" pitchFamily="18" charset="-34"/>
              </a:rPr>
              <a:t>The system is built using a modern scalable architecture with secure authentication, role-based access control, analytics, and containerized deployment.</a:t>
            </a:r>
            <a:endParaRPr lang="en-IN" sz="1100" i="1" dirty="0">
              <a:effectLst/>
              <a:latin typeface="Amasis MT Pro" panose="02040504050005020304" pitchFamily="18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FB8C31-1EC8-E34E-A037-151418F485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" t="12786" r="2176"/>
          <a:stretch>
            <a:fillRect/>
          </a:stretch>
        </p:blipFill>
        <p:spPr>
          <a:xfrm>
            <a:off x="948927" y="1545570"/>
            <a:ext cx="7246146" cy="443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E90352-E954-1548-8097-5EA8B9605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2191735"/>
            <a:ext cx="4032448" cy="29872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F92F08A-7036-DF07-F12B-5A579762B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185" y="1699242"/>
            <a:ext cx="426030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Centralized smart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Academic and administrative request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Student-to-student item and service exchange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Outsider/community partner support for urgent needs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Coin-based reward and wallet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Emergency request handling with priority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Real time notifications (Email/SMS)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Analytics dashboard for monitoring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Secure authentication with RBAC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80" y="310144"/>
            <a:ext cx="928903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  <a:p>
            <a:pPr lvl="0">
              <a:buSzPct val="25000"/>
            </a:pP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70FD7-F147-54A3-C5FA-E69BE03D1D4A}"/>
              </a:ext>
            </a:extLst>
          </p:cNvPr>
          <p:cNvSpPr txBox="1"/>
          <p:nvPr/>
        </p:nvSpPr>
        <p:spPr>
          <a:xfrm>
            <a:off x="413792" y="1478873"/>
            <a:ext cx="83529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Designed and planned the </a:t>
            </a:r>
            <a:r>
              <a:rPr lang="en-IN" b="1" dirty="0"/>
              <a:t>CampUs </a:t>
            </a:r>
            <a:r>
              <a:rPr lang="en-IN" dirty="0"/>
              <a:t>platform to connect students through a single digital campus ecosystem.</a:t>
            </a:r>
          </a:p>
          <a:p>
            <a:r>
              <a:rPr lang="en-IN" dirty="0"/>
              <a:t>• Developed the system architecture using the </a:t>
            </a:r>
            <a:r>
              <a:rPr lang="en-IN" b="1" dirty="0"/>
              <a:t>MERN stack </a:t>
            </a:r>
            <a:r>
              <a:rPr lang="en-IN" dirty="0"/>
              <a:t>(React.js, Node.js, Express.js, MongoDB).</a:t>
            </a:r>
          </a:p>
          <a:p>
            <a:r>
              <a:rPr lang="en-IN" dirty="0"/>
              <a:t>• Implemented </a:t>
            </a:r>
            <a:r>
              <a:rPr lang="en-IN" b="1" dirty="0"/>
              <a:t>secure user authentication system </a:t>
            </a:r>
            <a:r>
              <a:rPr lang="en-IN" dirty="0"/>
              <a:t>with login and registration functionality using </a:t>
            </a:r>
            <a:r>
              <a:rPr lang="en-IN" b="1" dirty="0"/>
              <a:t>JWT</a:t>
            </a:r>
            <a:r>
              <a:rPr lang="en-IN" dirty="0"/>
              <a:t>.</a:t>
            </a:r>
          </a:p>
          <a:p>
            <a:r>
              <a:rPr lang="en-IN" dirty="0"/>
              <a:t>• Created a </a:t>
            </a:r>
            <a:r>
              <a:rPr lang="en-IN" b="1" dirty="0"/>
              <a:t>student dashboard </a:t>
            </a:r>
            <a:r>
              <a:rPr lang="en-IN" dirty="0"/>
              <a:t>interface providing access to</a:t>
            </a:r>
            <a:r>
              <a:rPr lang="en-IN" b="1" dirty="0"/>
              <a:t> Market, Academic, Emergency, Wallet, </a:t>
            </a:r>
            <a:r>
              <a:rPr lang="en-IN" dirty="0"/>
              <a:t>and</a:t>
            </a:r>
            <a:r>
              <a:rPr lang="en-IN" b="1" dirty="0"/>
              <a:t> Profile modules.</a:t>
            </a:r>
          </a:p>
          <a:p>
            <a:r>
              <a:rPr lang="en-IN" dirty="0"/>
              <a:t>• Built the </a:t>
            </a:r>
            <a:r>
              <a:rPr lang="en-IN" b="1" dirty="0"/>
              <a:t>Campus Market</a:t>
            </a:r>
            <a:r>
              <a:rPr lang="en-IN" dirty="0"/>
              <a:t> module allowing students to buy, sell, and exchange items within the campus community.</a:t>
            </a:r>
          </a:p>
          <a:p>
            <a:r>
              <a:rPr lang="en-IN" dirty="0"/>
              <a:t>• Designed the </a:t>
            </a:r>
            <a:r>
              <a:rPr lang="en-IN" b="1" dirty="0"/>
              <a:t>Academic </a:t>
            </a:r>
            <a:r>
              <a:rPr lang="en-IN" dirty="0"/>
              <a:t>section framework for sharing notes, assignments, timetable, and study resources.</a:t>
            </a:r>
          </a:p>
          <a:p>
            <a:r>
              <a:rPr lang="en-IN" dirty="0"/>
              <a:t>• Integrated </a:t>
            </a:r>
            <a:r>
              <a:rPr lang="en-IN" b="1" dirty="0"/>
              <a:t>backend APIs </a:t>
            </a:r>
            <a:r>
              <a:rPr lang="en-IN" dirty="0"/>
              <a:t>and </a:t>
            </a:r>
            <a:r>
              <a:rPr lang="en-IN" b="1" dirty="0"/>
              <a:t>MongoDB</a:t>
            </a:r>
            <a:r>
              <a:rPr lang="en-IN" dirty="0"/>
              <a:t> database for managing users, requests, and platform data.</a:t>
            </a:r>
          </a:p>
          <a:p>
            <a:r>
              <a:rPr lang="en-IN" dirty="0"/>
              <a:t>• Containerized the application using </a:t>
            </a:r>
            <a:r>
              <a:rPr lang="en-IN" b="1" dirty="0"/>
              <a:t>Docker</a:t>
            </a:r>
            <a:r>
              <a:rPr lang="en-IN" dirty="0"/>
              <a:t> for deployment and scalability, enabling easier hosting and future cloud deployment.</a:t>
            </a: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5C80A2-DD1A-4A47-187D-F26DA7C61B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39" t="5199" r="1370" b="2708"/>
          <a:stretch>
            <a:fillRect/>
          </a:stretch>
        </p:blipFill>
        <p:spPr>
          <a:xfrm>
            <a:off x="323528" y="1498527"/>
            <a:ext cx="3456384" cy="2026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82FECC-AFEF-A57C-6C1C-376C2D5760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4303" y="3534203"/>
            <a:ext cx="4062975" cy="27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1FF527-4032-2EE2-C8A1-199B12CE7839}"/>
              </a:ext>
            </a:extLst>
          </p:cNvPr>
          <p:cNvSpPr txBox="1"/>
          <p:nvPr/>
        </p:nvSpPr>
        <p:spPr>
          <a:xfrm>
            <a:off x="4582968" y="1308019"/>
            <a:ext cx="438965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Tools &amp; 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React.js, Chart.js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Node.js, Express.js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Database:</a:t>
            </a:r>
            <a:r>
              <a:rPr lang="en-IN" dirty="0"/>
              <a:t> MongoDB, PostgreSQL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Security:</a:t>
            </a:r>
            <a:r>
              <a:rPr lang="en-IN" dirty="0"/>
              <a:t> JWT, RBAC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Notifications:</a:t>
            </a:r>
            <a:r>
              <a:rPr lang="en-IN" dirty="0"/>
              <a:t> Redis, Email/SMS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Deployment:</a:t>
            </a:r>
            <a:r>
              <a:rPr lang="en-IN" dirty="0"/>
              <a:t> Docker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8C9FC-DEC4-9A29-088D-476438525A05}"/>
              </a:ext>
            </a:extLst>
          </p:cNvPr>
          <p:cNvSpPr txBox="1"/>
          <p:nvPr/>
        </p:nvSpPr>
        <p:spPr>
          <a:xfrm>
            <a:off x="323528" y="3946405"/>
            <a:ext cx="345638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Approach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and database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&amp; backend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Workflow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Testing and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F129997-6ECE-446E-C8E8-8AD10B4762C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11" y="1480014"/>
            <a:ext cx="3728699" cy="20189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7AB580-8813-FC09-0001-AE8FCECDF7D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472" y="1480014"/>
            <a:ext cx="3765217" cy="20189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1F04DF-0B23-21D1-57CB-A56F907ACED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920060"/>
            <a:ext cx="4006563" cy="20189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6186A9-E860-63CA-8A89-EC2C647E462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18" y="3838239"/>
            <a:ext cx="4101143" cy="21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Docker Deploy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3B94B9-1C07-37D6-5BAC-E0DA5771B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64" y="1402362"/>
            <a:ext cx="8228983" cy="453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E1E052D-88FD-B1F3-2189-27E9C9A469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17"/>
          <a:stretch>
            <a:fillRect/>
          </a:stretch>
        </p:blipFill>
        <p:spPr>
          <a:xfrm>
            <a:off x="327181" y="1357716"/>
            <a:ext cx="8526150" cy="487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5AE5B-E43E-CFC9-59E3-0853A368E8B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0D8A881-3415-FB2C-CB40-E252E7C3E8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78"/>
          <a:stretch>
            <a:fillRect/>
          </a:stretch>
        </p:blipFill>
        <p:spPr>
          <a:xfrm>
            <a:off x="443683" y="1381153"/>
            <a:ext cx="8293146" cy="475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90D26-7A37-F85D-2268-D7B094DF8808}"/>
              </a:ext>
            </a:extLst>
          </p:cNvPr>
          <p:cNvSpPr txBox="1"/>
          <p:nvPr/>
        </p:nvSpPr>
        <p:spPr>
          <a:xfrm>
            <a:off x="251520" y="1293834"/>
            <a:ext cx="864096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</a:t>
            </a:r>
          </a:p>
          <a:p>
            <a:r>
              <a:rPr lang="en-IN" dirty="0"/>
              <a:t>• </a:t>
            </a:r>
            <a:r>
              <a:rPr lang="en-IN" b="1" dirty="0"/>
              <a:t>User Data </a:t>
            </a:r>
            <a:r>
              <a:rPr lang="en-IN" dirty="0"/>
              <a:t>– Student profile information stored in MongoDB</a:t>
            </a:r>
          </a:p>
          <a:p>
            <a:r>
              <a:rPr lang="en-IN" dirty="0"/>
              <a:t>• </a:t>
            </a:r>
            <a:r>
              <a:rPr lang="en-IN" b="1" dirty="0"/>
              <a:t>Marketplace Requests </a:t>
            </a:r>
            <a:r>
              <a:rPr lang="en-IN" dirty="0"/>
              <a:t>– Buy/sell/exchange item data</a:t>
            </a:r>
          </a:p>
          <a:p>
            <a:r>
              <a:rPr lang="en-IN" b="1" dirty="0"/>
              <a:t>• Academic Resource Data </a:t>
            </a:r>
            <a:r>
              <a:rPr lang="en-IN" dirty="0"/>
              <a:t>– Notes, assignments, and timetable information.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FADD0-FBA1-028F-359B-BCD547BF20C1}"/>
              </a:ext>
            </a:extLst>
          </p:cNvPr>
          <p:cNvSpPr txBox="1"/>
          <p:nvPr/>
        </p:nvSpPr>
        <p:spPr>
          <a:xfrm>
            <a:off x="323528" y="2663627"/>
            <a:ext cx="85689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Resources</a:t>
            </a:r>
          </a:p>
          <a:p>
            <a:r>
              <a:rPr lang="en-IN" b="1" dirty="0"/>
              <a:t>• React.js </a:t>
            </a:r>
            <a:r>
              <a:rPr lang="en-IN" dirty="0"/>
              <a:t>– Used for building the frontend user interface of the CampUs platform.</a:t>
            </a:r>
          </a:p>
          <a:p>
            <a:r>
              <a:rPr lang="en-IN" dirty="0"/>
              <a:t>https://react.dev</a:t>
            </a:r>
          </a:p>
          <a:p>
            <a:r>
              <a:rPr lang="en-IN" dirty="0"/>
              <a:t>• </a:t>
            </a:r>
            <a:r>
              <a:rPr lang="en-IN" b="1" dirty="0"/>
              <a:t>Node.js </a:t>
            </a:r>
            <a:r>
              <a:rPr lang="en-IN" dirty="0"/>
              <a:t>– Used for backend server development.</a:t>
            </a:r>
          </a:p>
          <a:p>
            <a:r>
              <a:rPr lang="en-IN" dirty="0"/>
              <a:t>https://nodejs.org</a:t>
            </a:r>
          </a:p>
          <a:p>
            <a:r>
              <a:rPr lang="en-IN" b="1" dirty="0"/>
              <a:t>• Express.js </a:t>
            </a:r>
            <a:r>
              <a:rPr lang="en-IN" dirty="0"/>
              <a:t>– Used for creating REST APIs and handling backend routes.</a:t>
            </a:r>
          </a:p>
          <a:p>
            <a:r>
              <a:rPr lang="en-IN" dirty="0"/>
              <a:t>https://expressjs.com</a:t>
            </a:r>
          </a:p>
          <a:p>
            <a:r>
              <a:rPr lang="en-IN" dirty="0"/>
              <a:t>•</a:t>
            </a:r>
            <a:r>
              <a:rPr lang="en-IN" b="1" dirty="0"/>
              <a:t> MongoDB </a:t>
            </a:r>
            <a:r>
              <a:rPr lang="en-IN" dirty="0"/>
              <a:t>– Used as the database for storing users, marketplace requests, and platform data.</a:t>
            </a:r>
          </a:p>
          <a:p>
            <a:r>
              <a:rPr lang="en-IN" dirty="0"/>
              <a:t>https://www.mongodb.com</a:t>
            </a:r>
          </a:p>
          <a:p>
            <a:r>
              <a:rPr lang="en-IN" dirty="0"/>
              <a:t>• </a:t>
            </a:r>
            <a:r>
              <a:rPr lang="en-IN" b="1" dirty="0"/>
              <a:t>Docker</a:t>
            </a:r>
            <a:r>
              <a:rPr lang="en-IN" dirty="0"/>
              <a:t> – Used for containerization and deployment of frontend and backend services.</a:t>
            </a:r>
          </a:p>
          <a:p>
            <a:r>
              <a:rPr lang="en-IN" dirty="0"/>
              <a:t>https://www.docker.com⁠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3520" y="276024"/>
            <a:ext cx="23102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6081DE-8E44-7DE6-4420-1E6C3D17C6D5}"/>
              </a:ext>
            </a:extLst>
          </p:cNvPr>
          <p:cNvSpPr txBox="1"/>
          <p:nvPr/>
        </p:nvSpPr>
        <p:spPr>
          <a:xfrm>
            <a:off x="771786" y="1792558"/>
            <a:ext cx="34239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CampUs system allows students to securely access academic resources, participate in the campus market, manage wallet coins, and request emergency support through a centralized dashboard. The backend processes user actions and updates the database to ensure smooth campus interactions.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18D5E6-C5B4-09C8-8990-81942F4717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00" b="5901"/>
          <a:stretch>
            <a:fillRect/>
          </a:stretch>
        </p:blipFill>
        <p:spPr>
          <a:xfrm>
            <a:off x="4727780" y="1449760"/>
            <a:ext cx="3759512" cy="476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89A2-03F4-4A26-3AD4-B05D2786B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052A58-CD06-D3A7-504A-CC2D5ABCD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B0EA224-30B5-68BD-0713-FA408B908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156004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4AB537-042E-4937-6CF0-D2F86024128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AC6EC7E-4835-CFA7-D6DB-BDBBC871AD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EBC58D-DB61-A5C0-95F5-81CE3F6F757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02C37-6D9E-715F-A1D4-278889DBEB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293834"/>
            <a:ext cx="7344816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95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650741-802E-CDC9-F002-1D88051973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" t="13128" r="857" b="10630"/>
          <a:stretch>
            <a:fillRect/>
          </a:stretch>
        </p:blipFill>
        <p:spPr>
          <a:xfrm>
            <a:off x="287524" y="1534468"/>
            <a:ext cx="8568951" cy="449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6321</TotalTime>
  <Words>736</Words>
  <Application>Microsoft Office PowerPoint</Application>
  <PresentationFormat>On-screen Show (4:3)</PresentationFormat>
  <Paragraphs>129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ADLaM Display</vt:lpstr>
      <vt:lpstr>Amasis MT Pro</vt:lpstr>
      <vt:lpstr>Aptos</vt:lpstr>
      <vt:lpstr>Arial</vt:lpstr>
      <vt:lpstr>Bahnschrift Light</vt:lpstr>
      <vt:lpstr>Calibri</vt:lpstr>
      <vt:lpstr>Cambria</vt:lpstr>
      <vt:lpstr>Garamond</vt:lpstr>
      <vt:lpstr>Symbol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Nirmit Dudeja</cp:lastModifiedBy>
  <cp:revision>320</cp:revision>
  <cp:lastPrinted>2022-09-05T08:43:44Z</cp:lastPrinted>
  <dcterms:created xsi:type="dcterms:W3CDTF">2020-01-16T09:05:56Z</dcterms:created>
  <dcterms:modified xsi:type="dcterms:W3CDTF">2026-03-17T02:48:49Z</dcterms:modified>
</cp:coreProperties>
</file>